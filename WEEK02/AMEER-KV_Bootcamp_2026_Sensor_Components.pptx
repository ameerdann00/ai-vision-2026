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16"/>
  </p:notesMasterIdLst>
  <p:sldIdLst>
    <p:sldId id="256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9" r:id="rId11"/>
    <p:sldId id="263" r:id="rId12"/>
    <p:sldId id="264" r:id="rId13"/>
    <p:sldId id="266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1060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CHANDIRAN" userId="63009e730c05ee4c" providerId="LiveId" clId="{FC1D51C8-88FA-4E1C-A103-A2028F4F86E2}"/>
    <pc:docChg chg="undo custSel addSld delSld modSld">
      <pc:chgData name="SARA CHANDIRAN" userId="63009e730c05ee4c" providerId="LiveId" clId="{FC1D51C8-88FA-4E1C-A103-A2028F4F86E2}" dt="2026-06-10T13:08:21.804" v="7" actId="1076"/>
      <pc:docMkLst>
        <pc:docMk/>
      </pc:docMkLst>
      <pc:sldChg chg="modSp mod">
        <pc:chgData name="SARA CHANDIRAN" userId="63009e730c05ee4c" providerId="LiveId" clId="{FC1D51C8-88FA-4E1C-A103-A2028F4F86E2}" dt="2026-06-10T13:08:21.804" v="7" actId="1076"/>
        <pc:sldMkLst>
          <pc:docMk/>
          <pc:sldMk cId="0" sldId="262"/>
        </pc:sldMkLst>
        <pc:picChg chg="mod">
          <ac:chgData name="SARA CHANDIRAN" userId="63009e730c05ee4c" providerId="LiveId" clId="{FC1D51C8-88FA-4E1C-A103-A2028F4F86E2}" dt="2026-06-10T13:08:21.804" v="7" actId="1076"/>
          <ac:picMkLst>
            <pc:docMk/>
            <pc:sldMk cId="0" sldId="262"/>
            <ac:picMk id="9" creationId="{00000000-0000-0000-0000-000000000000}"/>
          </ac:picMkLst>
        </pc:picChg>
      </pc:sldChg>
      <pc:sldChg chg="new del">
        <pc:chgData name="SARA CHANDIRAN" userId="63009e730c05ee4c" providerId="LiveId" clId="{FC1D51C8-88FA-4E1C-A103-A2028F4F86E2}" dt="2026-06-10T12:48:25.142" v="1" actId="680"/>
        <pc:sldMkLst>
          <pc:docMk/>
          <pc:sldMk cId="34794252" sldId="270"/>
        </pc:sldMkLst>
      </pc:sldChg>
      <pc:sldChg chg="new del">
        <pc:chgData name="SARA CHANDIRAN" userId="63009e730c05ee4c" providerId="LiveId" clId="{FC1D51C8-88FA-4E1C-A103-A2028F4F86E2}" dt="2026-06-10T12:51:27.026" v="5" actId="680"/>
        <pc:sldMkLst>
          <pc:docMk/>
          <pc:sldMk cId="604597206" sldId="270"/>
        </pc:sldMkLst>
      </pc:sldChg>
      <pc:sldChg chg="new del">
        <pc:chgData name="SARA CHANDIRAN" userId="63009e730c05ee4c" providerId="LiveId" clId="{FC1D51C8-88FA-4E1C-A103-A2028F4F86E2}" dt="2026-06-10T12:49:49.686" v="3" actId="680"/>
        <pc:sldMkLst>
          <pc:docMk/>
          <pc:sldMk cId="2402340832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34" Type="http://schemas.openxmlformats.org/officeDocument/2006/relationships/image" Target="../media/image4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1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6.png"/><Relationship Id="rId37" Type="http://schemas.openxmlformats.org/officeDocument/2006/relationships/image" Target="../media/image34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image" Target="../media/image43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notesSlide" Target="../notesSlides/notesSlide1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slideLayout" Target="../slideLayouts/slideLayout1.xml"/><Relationship Id="rId35" Type="http://schemas.openxmlformats.org/officeDocument/2006/relationships/image" Target="../media/image5.png"/><Relationship Id="rId8" Type="http://schemas.openxmlformats.org/officeDocument/2006/relationships/tags" Target="../tags/tag8.xml"/><Relationship Id="rId3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1371600" y="182880"/>
            <a:ext cx="548640" cy="54864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103120" y="182880"/>
            <a:ext cx="548640" cy="548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274320" y="1097280"/>
            <a:ext cx="548640" cy="54864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1371600" y="1097280"/>
            <a:ext cx="548640" cy="5486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2103120" y="1097280"/>
            <a:ext cx="548640" cy="54864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74320" y="2011680"/>
            <a:ext cx="548640" cy="54864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1371600" y="2011680"/>
            <a:ext cx="548640" cy="548640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103120" y="2011680"/>
            <a:ext cx="548640" cy="548640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274320" y="2926080"/>
            <a:ext cx="548640" cy="548640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1371600" y="2926080"/>
            <a:ext cx="548640" cy="548640"/>
          </a:xfrm>
          <a:prstGeom prst="rect">
            <a:avLst/>
          </a:prstGeom>
        </p:spPr>
      </p:pic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2103120" y="2926080"/>
            <a:ext cx="548640" cy="548640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3200400" y="640080"/>
            <a:ext cx="5669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BA8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Pico W</a:t>
            </a:r>
            <a:endParaRPr lang="en-US" sz="5200" dirty="0"/>
          </a:p>
        </p:txBody>
      </p:sp>
      <p:sp>
        <p:nvSpPr>
          <p:cNvPr id="16" name="Text 2"/>
          <p:cNvSpPr/>
          <p:nvPr/>
        </p:nvSpPr>
        <p:spPr>
          <a:xfrm>
            <a:off x="3200400" y="1371600"/>
            <a:ext cx="5669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Kit</a:t>
            </a:r>
            <a:endParaRPr lang="en-US" sz="4400" dirty="0"/>
          </a:p>
        </p:txBody>
      </p:sp>
      <p:sp>
        <p:nvSpPr>
          <p:cNvPr id="17" name="Text 3"/>
          <p:cNvSpPr/>
          <p:nvPr/>
        </p:nvSpPr>
        <p:spPr>
          <a:xfrm>
            <a:off x="3200400" y="2103120"/>
            <a:ext cx="5669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8F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Guide</a:t>
            </a:r>
            <a:endParaRPr lang="en-US" sz="2400" dirty="0"/>
          </a:p>
        </p:txBody>
      </p:sp>
      <p:sp>
        <p:nvSpPr>
          <p:cNvPr id="18" name="Shape 4"/>
          <p:cNvSpPr/>
          <p:nvPr/>
        </p:nvSpPr>
        <p:spPr>
          <a:xfrm>
            <a:off x="3200400" y="2834640"/>
            <a:ext cx="5029200" cy="36576"/>
          </a:xfrm>
          <a:prstGeom prst="rect">
            <a:avLst/>
          </a:prstGeom>
          <a:solidFill>
            <a:srgbClr val="2BA8A5"/>
          </a:solidFill>
          <a:ln w="12700">
            <a:solidFill>
              <a:srgbClr val="2BA8A5"/>
            </a:solidFill>
            <a:prstDash val="solid"/>
          </a:ln>
        </p:spPr>
      </p:sp>
      <p:sp>
        <p:nvSpPr>
          <p:cNvPr id="19" name="Text 5"/>
          <p:cNvSpPr/>
          <p:nvPr/>
        </p:nvSpPr>
        <p:spPr>
          <a:xfrm>
            <a:off x="3200400" y="3017520"/>
            <a:ext cx="5669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KV Bootcamp 2026  |  9–12 Jun 2026  |  Hotel Granada, Johor Bahru</a:t>
            </a:r>
            <a:endParaRPr lang="en-US" sz="11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931920"/>
            <a:ext cx="256032" cy="256032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3520440" y="3913632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Raspberry Pi Pico W</a:t>
            </a:r>
            <a:endParaRPr lang="en-US" sz="100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931920"/>
            <a:ext cx="256032" cy="256032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6080760" y="3913632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 Temp+Humidity</a:t>
            </a:r>
            <a:endParaRPr lang="en-US" sz="10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34840"/>
            <a:ext cx="256032" cy="256032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3520440" y="4416552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MCP9700 Analog Temp</a:t>
            </a:r>
            <a:endParaRPr lang="en-US" sz="10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434840"/>
            <a:ext cx="256032" cy="256032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6080760" y="4416552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 Light Sensor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Each Component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8872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5955" y="896112"/>
            <a:ext cx="899770" cy="749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69164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Raspberry Pi Pico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64792" y="80467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000707" y="896112"/>
            <a:ext cx="899770" cy="7498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10512" y="169164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USB Type-C Cable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209544" y="80467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445459" y="896112"/>
            <a:ext cx="899770" cy="7498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5264" y="169164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HC-SR04 Ultrasonic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4654296" y="80467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890211" y="896112"/>
            <a:ext cx="899770" cy="7498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00016" y="169164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 Sensor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6099048" y="80467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334963" y="896112"/>
            <a:ext cx="899770" cy="7498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144768" y="169164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PIR Motion Sensor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7543800" y="80467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779715" y="896112"/>
            <a:ext cx="899770" cy="7498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589520" y="169164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 Button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320040" y="213055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55955" y="2221992"/>
            <a:ext cx="899770" cy="7498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65760" y="301752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 Sensor</a:t>
            </a:r>
            <a:endParaRPr lang="en-US" sz="850" dirty="0"/>
          </a:p>
        </p:txBody>
      </p:sp>
      <p:sp>
        <p:nvSpPr>
          <p:cNvPr id="25" name="Shape 16"/>
          <p:cNvSpPr/>
          <p:nvPr/>
        </p:nvSpPr>
        <p:spPr>
          <a:xfrm>
            <a:off x="1764792" y="213055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2000707" y="2221992"/>
            <a:ext cx="899770" cy="74980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810512" y="301752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 Sensor</a:t>
            </a:r>
            <a:endParaRPr lang="en-US" sz="850" dirty="0"/>
          </a:p>
        </p:txBody>
      </p:sp>
      <p:sp>
        <p:nvSpPr>
          <p:cNvPr id="28" name="Shape 18"/>
          <p:cNvSpPr/>
          <p:nvPr/>
        </p:nvSpPr>
        <p:spPr>
          <a:xfrm>
            <a:off x="3209544" y="213055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445459" y="2221992"/>
            <a:ext cx="899770" cy="74980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255264" y="301752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Transistor (NPN)</a:t>
            </a:r>
            <a:endParaRPr lang="en-US" sz="850" dirty="0"/>
          </a:p>
        </p:txBody>
      </p:sp>
      <p:sp>
        <p:nvSpPr>
          <p:cNvPr id="31" name="Shape 20"/>
          <p:cNvSpPr/>
          <p:nvPr/>
        </p:nvSpPr>
        <p:spPr>
          <a:xfrm>
            <a:off x="4654296" y="213055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890211" y="2221992"/>
            <a:ext cx="899770" cy="74980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700016" y="301752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Jumper Wires</a:t>
            </a:r>
            <a:endParaRPr lang="en-US" sz="850" dirty="0"/>
          </a:p>
        </p:txBody>
      </p:sp>
      <p:sp>
        <p:nvSpPr>
          <p:cNvPr id="34" name="Shape 22"/>
          <p:cNvSpPr/>
          <p:nvPr/>
        </p:nvSpPr>
        <p:spPr>
          <a:xfrm>
            <a:off x="6099048" y="213055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334963" y="2221992"/>
            <a:ext cx="899770" cy="749808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144768" y="301752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GB" sz="850" dirty="0">
                <a:solidFill>
                  <a:schemeClr val="bg1"/>
                </a:solidFill>
              </a:rPr>
              <a:t>DS1307 RTC I2C Module</a:t>
            </a:r>
          </a:p>
        </p:txBody>
      </p:sp>
      <p:sp>
        <p:nvSpPr>
          <p:cNvPr id="37" name="Shape 24"/>
          <p:cNvSpPr/>
          <p:nvPr/>
        </p:nvSpPr>
        <p:spPr>
          <a:xfrm>
            <a:off x="7543800" y="213055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7779715" y="2221992"/>
            <a:ext cx="899770" cy="74980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7589520" y="301752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LCD Display</a:t>
            </a:r>
            <a:endParaRPr lang="en-US" sz="850" dirty="0"/>
          </a:p>
        </p:txBody>
      </p:sp>
      <p:sp>
        <p:nvSpPr>
          <p:cNvPr id="40" name="Shape 26"/>
          <p:cNvSpPr/>
          <p:nvPr/>
        </p:nvSpPr>
        <p:spPr>
          <a:xfrm>
            <a:off x="320040" y="345643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555955" y="3547872"/>
            <a:ext cx="899770" cy="749808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365760" y="434340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LED</a:t>
            </a:r>
            <a:endParaRPr lang="en-US" sz="850" dirty="0"/>
          </a:p>
        </p:txBody>
      </p:sp>
      <p:sp>
        <p:nvSpPr>
          <p:cNvPr id="43" name="Shape 28"/>
          <p:cNvSpPr/>
          <p:nvPr/>
        </p:nvSpPr>
        <p:spPr>
          <a:xfrm>
            <a:off x="1764792" y="345643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2000707" y="3547872"/>
            <a:ext cx="899770" cy="749808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1810512" y="434340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Buzzer</a:t>
            </a:r>
            <a:endParaRPr lang="en-US" sz="850" dirty="0"/>
          </a:p>
        </p:txBody>
      </p:sp>
      <p:sp>
        <p:nvSpPr>
          <p:cNvPr id="46" name="Shape 30"/>
          <p:cNvSpPr/>
          <p:nvPr/>
        </p:nvSpPr>
        <p:spPr>
          <a:xfrm>
            <a:off x="3209544" y="345643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3445459" y="3547872"/>
            <a:ext cx="899770" cy="749808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3255264" y="434340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Resistor</a:t>
            </a:r>
            <a:endParaRPr lang="en-US" sz="850" dirty="0"/>
          </a:p>
        </p:txBody>
      </p:sp>
      <p:sp>
        <p:nvSpPr>
          <p:cNvPr id="49" name="Shape 32"/>
          <p:cNvSpPr/>
          <p:nvPr/>
        </p:nvSpPr>
        <p:spPr>
          <a:xfrm>
            <a:off x="4654296" y="345643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4890211" y="3547872"/>
            <a:ext cx="899770" cy="749808"/>
          </a:xfrm>
          <a:prstGeom prst="rect">
            <a:avLst/>
          </a:prstGeom>
        </p:spPr>
      </p:pic>
      <p:sp>
        <p:nvSpPr>
          <p:cNvPr id="51" name="Text 33"/>
          <p:cNvSpPr/>
          <p:nvPr/>
        </p:nvSpPr>
        <p:spPr>
          <a:xfrm>
            <a:off x="4700016" y="434340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Breadboard</a:t>
            </a:r>
            <a:endParaRPr lang="en-US" sz="850" dirty="0"/>
          </a:p>
        </p:txBody>
      </p:sp>
      <p:sp>
        <p:nvSpPr>
          <p:cNvPr id="52" name="Shape 34"/>
          <p:cNvSpPr/>
          <p:nvPr/>
        </p:nvSpPr>
        <p:spPr>
          <a:xfrm>
            <a:off x="6099048" y="3456432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3" name="Image 16" descr="preencoded.png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334963" y="3547872"/>
            <a:ext cx="899770" cy="749808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6144768" y="434340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SD Card Module</a:t>
            </a:r>
            <a:endParaRPr lang="en-US" sz="850" dirty="0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6260" y="895985"/>
            <a:ext cx="898525" cy="77851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00885" y="895985"/>
            <a:ext cx="928370" cy="750570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45510" y="895985"/>
            <a:ext cx="899795" cy="755015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90135" y="861695"/>
            <a:ext cx="900430" cy="789305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34760" y="895985"/>
            <a:ext cx="900430" cy="786765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00885" y="2221865"/>
            <a:ext cx="897890" cy="777875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45510" y="2221865"/>
            <a:ext cx="899160" cy="772795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80020" y="2238375"/>
            <a:ext cx="899795" cy="756920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56260" y="3547745"/>
            <a:ext cx="896620" cy="742315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000885" y="3541395"/>
            <a:ext cx="892810" cy="7562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579755" y="1916430"/>
            <a:ext cx="13258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OVERVIEW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Each Component Does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kit streams one CSV row per second — feeding your pandas and ML exercises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0116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1874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143000"/>
            <a:ext cx="228600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18872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128016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188720"/>
            <a:ext cx="1143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Pico W Pin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1143000"/>
            <a:ext cx="182880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188720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Column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55448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755648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5800" y="1600200"/>
            <a:ext cx="1600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Raspberry Pi Pico W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331720" y="1554480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23160" y="1600200"/>
            <a:ext cx="2148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Microcontroller + WiFi + on-board temp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17720" y="1554480"/>
            <a:ext cx="1280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1600200"/>
            <a:ext cx="1143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97880" y="1554480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1600200"/>
            <a:ext cx="1691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onboard_temp_c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0040" y="2212848"/>
            <a:ext cx="2011680" cy="658368"/>
          </a:xfrm>
          <a:prstGeom prst="rect">
            <a:avLst/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414016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85800" y="2258568"/>
            <a:ext cx="1600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MCP9700 (Analog)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331720" y="2212848"/>
            <a:ext cx="2286000" cy="658368"/>
          </a:xfrm>
          <a:prstGeom prst="rect">
            <a:avLst/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423160" y="2258568"/>
            <a:ext cx="2148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Ambient temperature (analog voltage)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17720" y="2212848"/>
            <a:ext cx="1280160" cy="658368"/>
          </a:xfrm>
          <a:prstGeom prst="rect">
            <a:avLst/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09160" y="2258568"/>
            <a:ext cx="1143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A0 (GP26)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897880" y="2212848"/>
            <a:ext cx="1828800" cy="658368"/>
          </a:xfrm>
          <a:prstGeom prst="rect">
            <a:avLst/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989320" y="2258568"/>
            <a:ext cx="1691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mcp_temp_c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320040" y="2871216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072384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85800" y="2916936"/>
            <a:ext cx="1600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 + 10kΩ Divider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2331720" y="2871216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423160" y="2916936"/>
            <a:ext cx="2148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 level (raw ADC value 0–65535)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617720" y="2871216"/>
            <a:ext cx="1280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709160" y="2916936"/>
            <a:ext cx="1143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A1 (GP27)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5897880" y="2871216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989320" y="2916936"/>
            <a:ext cx="1691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ldr_raw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320040" y="3529584"/>
            <a:ext cx="2011680" cy="658368"/>
          </a:xfrm>
          <a:prstGeom prst="rect">
            <a:avLst/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3730752"/>
            <a:ext cx="256032" cy="25603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85800" y="3575304"/>
            <a:ext cx="1600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2331720" y="3529584"/>
            <a:ext cx="2286000" cy="658368"/>
          </a:xfrm>
          <a:prstGeom prst="rect">
            <a:avLst/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2423160" y="3575304"/>
            <a:ext cx="2148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 + Relative Humidity (%)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4617720" y="3529584"/>
            <a:ext cx="1280160" cy="658368"/>
          </a:xfrm>
          <a:prstGeom prst="rect">
            <a:avLst/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709160" y="3575304"/>
            <a:ext cx="1143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GP15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5897880" y="3529584"/>
            <a:ext cx="1828800" cy="658368"/>
          </a:xfrm>
          <a:prstGeom prst="rect">
            <a:avLst/>
          </a:prstGeom>
          <a:solidFill>
            <a:srgbClr val="EBF5F5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5989320" y="3575304"/>
            <a:ext cx="16916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dht_temp_c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dht_humidity_pct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320040" y="4206240"/>
            <a:ext cx="8503920" cy="685800"/>
          </a:xfrm>
          <a:prstGeom prst="rect">
            <a:avLst/>
          </a:prstGeom>
          <a:solidFill>
            <a:srgbClr val="E8F8F5"/>
          </a:solidFill>
          <a:ln w="12700">
            <a:solidFill>
              <a:srgbClr val="2BA8A5"/>
            </a:solidFill>
            <a:prstDash val="solid"/>
          </a:ln>
        </p:spPr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315968"/>
            <a:ext cx="256032" cy="256032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731520" y="4251960"/>
            <a:ext cx="7955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sensors powered from Pico W 3V3 OUT (pin 36).  One CSV row per second over USB Serial and MQTT to broker seaicthree.local:1883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A27"/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255905" y="2044065"/>
            <a:ext cx="67627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PICO 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Raspberry Pi Pico 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F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brain of the kit — RP2040 microcontroller with built-in WiFi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457200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960120"/>
            <a:ext cx="3840480" cy="457200"/>
          </a:xfrm>
          <a:prstGeom prst="rect">
            <a:avLst/>
          </a:prstGeom>
          <a:solidFill>
            <a:srgbClr val="1A3A1A"/>
          </a:solidFill>
          <a:ln w="6350">
            <a:solidFill>
              <a:srgbClr val="3A6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0" y="987552"/>
            <a:ext cx="10972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F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Processor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63640" y="98755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D9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RP2040 dual-core ARM Cortex-M0+  133 MHz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0" y="1463040"/>
            <a:ext cx="3840480" cy="457200"/>
          </a:xfrm>
          <a:prstGeom prst="rect">
            <a:avLst/>
          </a:prstGeom>
          <a:solidFill>
            <a:srgbClr val="1A3A1A"/>
          </a:solidFill>
          <a:ln w="6350">
            <a:solidFill>
              <a:srgbClr val="3A6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0" y="1490472"/>
            <a:ext cx="10972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F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63640" y="149047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D9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264 kB SRAM  |  2 MB Flash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0" y="1965960"/>
            <a:ext cx="3840480" cy="457200"/>
          </a:xfrm>
          <a:prstGeom prst="rect">
            <a:avLst/>
          </a:prstGeom>
          <a:solidFill>
            <a:srgbClr val="1A3A1A"/>
          </a:solidFill>
          <a:ln w="6350">
            <a:solidFill>
              <a:srgbClr val="3A6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1993392"/>
            <a:ext cx="10972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F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WiFi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63640" y="199339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D9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CYW43439  —  2.4 GHz 802.11n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0" y="2468880"/>
            <a:ext cx="3840480" cy="457200"/>
          </a:xfrm>
          <a:prstGeom prst="rect">
            <a:avLst/>
          </a:prstGeom>
          <a:solidFill>
            <a:srgbClr val="1A3A1A"/>
          </a:solidFill>
          <a:ln w="6350">
            <a:solidFill>
              <a:srgbClr val="3A6A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0" y="2496312"/>
            <a:ext cx="10972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F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ADC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63640" y="249631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D9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3× 12-bit ADC  (GP26/27/28)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0" y="2971800"/>
            <a:ext cx="3840480" cy="457200"/>
          </a:xfrm>
          <a:prstGeom prst="rect">
            <a:avLst/>
          </a:prstGeom>
          <a:solidFill>
            <a:srgbClr val="1A3A1A"/>
          </a:solidFill>
          <a:ln w="6350">
            <a:solidFill>
              <a:srgbClr val="3A6A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2999232"/>
            <a:ext cx="10972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F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GPIO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63640" y="299923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D9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multi-function GPIO pins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029200" y="3474720"/>
            <a:ext cx="3840480" cy="457200"/>
          </a:xfrm>
          <a:prstGeom prst="rect">
            <a:avLst/>
          </a:prstGeom>
          <a:solidFill>
            <a:srgbClr val="1A3A1A"/>
          </a:solidFill>
          <a:ln w="6350">
            <a:solidFill>
              <a:srgbClr val="3A6A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0" y="3502152"/>
            <a:ext cx="10972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F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63640" y="350215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D9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3V3 OUT (pin 36) → sensors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3977640"/>
            <a:ext cx="8595360" cy="896112"/>
          </a:xfrm>
          <a:prstGeom prst="rect">
            <a:avLst/>
          </a:prstGeom>
          <a:solidFill>
            <a:srgbClr val="1A2E1A"/>
          </a:solidFill>
          <a:ln w="6350">
            <a:solidFill>
              <a:srgbClr val="3A5A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00507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F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Pins Used in This Kit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4343400"/>
            <a:ext cx="1920240" cy="457200"/>
          </a:xfrm>
          <a:prstGeom prst="rect">
            <a:avLst/>
          </a:prstGeom>
          <a:solidFill>
            <a:srgbClr val="0D1F0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4361688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GP26 (A0)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8640" y="4544568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MCP9700 analog output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606040" y="4343400"/>
            <a:ext cx="1920240" cy="457200"/>
          </a:xfrm>
          <a:prstGeom prst="rect">
            <a:avLst/>
          </a:prstGeom>
          <a:solidFill>
            <a:srgbClr val="0D1F0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97480" y="4361688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GP27 (A1)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697480" y="4544568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 voltage divider midpoint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754880" y="4343400"/>
            <a:ext cx="1920240" cy="457200"/>
          </a:xfrm>
          <a:prstGeom prst="rect">
            <a:avLst/>
          </a:prstGeom>
          <a:solidFill>
            <a:srgbClr val="0D1F0D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4361688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GP15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46320" y="4544568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 digital data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903720" y="4343400"/>
            <a:ext cx="1920240" cy="457200"/>
          </a:xfrm>
          <a:prstGeom prst="rect">
            <a:avLst/>
          </a:prstGeom>
          <a:solidFill>
            <a:srgbClr val="0D1F0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95160" y="4361688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3V3 OUT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995160" y="4544568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for all sensors (pin 36)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263525" y="2144395"/>
            <a:ext cx="69151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DHT22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 — Temperature &amp; Humidity Sensor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sensor outputting calibrated temperature + relative humidity in one data packet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60120"/>
            <a:ext cx="320040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0" y="91440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16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3632" y="1344168"/>
            <a:ext cx="4937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a capacitive humidity sensing element that changes electrical resistance with moisture.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84708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13632" y="1819656"/>
            <a:ext cx="4937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NTC thermistor measures temperature simultaneously.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32257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13632" y="2295144"/>
            <a:ext cx="4937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 ADC converts both readings to digital, sends via single-wire protocol.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79806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13632" y="2770632"/>
            <a:ext cx="4937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reads with adafruit_dht library — one call returns both values.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3657600" y="3337560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Specifications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3657600" y="3703320"/>
            <a:ext cx="5212080" cy="292608"/>
          </a:xfrm>
          <a:prstGeom prst="rect">
            <a:avLst/>
          </a:prstGeom>
          <a:solidFill>
            <a:srgbClr val="1E293B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3749040" y="3730752"/>
            <a:ext cx="1188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 Range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937760" y="3730752"/>
            <a:ext cx="1280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-40°C to +80°C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6217920" y="3730752"/>
            <a:ext cx="1097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7315200" y="3730752"/>
            <a:ext cx="1463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±0.5°C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3657600" y="4023360"/>
            <a:ext cx="5212080" cy="292608"/>
          </a:xfrm>
          <a:prstGeom prst="rect">
            <a:avLst/>
          </a:prstGeom>
          <a:solidFill>
            <a:srgbClr val="0F172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3749040" y="4050792"/>
            <a:ext cx="1188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Humidity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937760" y="4050792"/>
            <a:ext cx="1280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0–100% RH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6217920" y="4050792"/>
            <a:ext cx="1097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7315200" y="4050792"/>
            <a:ext cx="1463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±2–5% RH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3657600" y="4343400"/>
            <a:ext cx="5212080" cy="292608"/>
          </a:xfrm>
          <a:prstGeom prst="rect">
            <a:avLst/>
          </a:prstGeom>
          <a:solidFill>
            <a:srgbClr val="1E293B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749040" y="4370832"/>
            <a:ext cx="1188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Voltage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937760" y="4370832"/>
            <a:ext cx="1280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3.3V – 5V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217920" y="4370832"/>
            <a:ext cx="1097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Rate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7315200" y="4370832"/>
            <a:ext cx="1463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 Hz (2s min)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3657600" y="4663440"/>
            <a:ext cx="5212080" cy="292608"/>
          </a:xfrm>
          <a:prstGeom prst="rect">
            <a:avLst/>
          </a:prstGeom>
          <a:solidFill>
            <a:srgbClr val="0F172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749040" y="4690872"/>
            <a:ext cx="1188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Pin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4937760" y="4690872"/>
            <a:ext cx="1280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GP15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6217920" y="4690872"/>
            <a:ext cx="1097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Pull-up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315200" y="4690872"/>
            <a:ext cx="1463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4.7kΩ to 3V3 required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228600" y="4114800"/>
            <a:ext cx="3200400" cy="822960"/>
          </a:xfrm>
          <a:prstGeom prst="rect">
            <a:avLst/>
          </a:prstGeom>
          <a:solidFill>
            <a:srgbClr val="0D15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47472" y="4133088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47472" y="4425696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VCC → 3V3  |  GND → GND  |  DATA → </a:t>
            </a:r>
            <a:r>
              <a:rPr lang="en-US" sz="900" b="1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GP15</a:t>
            </a:r>
            <a:r>
              <a:rPr lang="en-US" sz="9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4.7kΩ pull-up on DATA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1F00"/>
          </a:solidFill>
          <a:ln w="12700">
            <a:solidFill>
              <a:srgbClr val="3D1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222885" y="2165350"/>
            <a:ext cx="61150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MCP9700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MCP9700 — Analog Temperature Sensor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D9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active thermistor — outputs a voltage proportional to temperature. Simple and reliable.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60120"/>
            <a:ext cx="320040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0" y="914400"/>
            <a:ext cx="5212080" cy="1097280"/>
          </a:xfrm>
          <a:prstGeom prst="rect">
            <a:avLst/>
          </a:prstGeom>
          <a:solidFill>
            <a:srgbClr val="1A0E0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94760" y="9601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Formula: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794760" y="1261872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Vout = 500mV + (Temp × 10mV/°C)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794760" y="164592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0°C → 0.500V    At 25°C → 0.750V    At 50°C → 1.000V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0" y="2148840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D7F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in CircuitPython: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0" y="2487168"/>
            <a:ext cx="5212080" cy="960120"/>
          </a:xfrm>
          <a:prstGeom prst="rect">
            <a:avLst/>
          </a:prstGeom>
          <a:solidFill>
            <a:srgbClr val="0D0A07"/>
          </a:solidFill>
          <a:ln w="12700">
            <a:solidFill>
              <a:srgbClr val="3D20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94760" y="2532888"/>
            <a:ext cx="4937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analogio, board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794760" y="2752344"/>
            <a:ext cx="4937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adc = analogio.AnalogIn(board.A0)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94760" y="2971800"/>
            <a:ext cx="4937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voltage  = adc.value * 3.3 / 65535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94760" y="3191256"/>
            <a:ext cx="4937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temp_c   = (voltage - 0.5) / 0.01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0" y="3520440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D7F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Specifications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0" y="3886200"/>
            <a:ext cx="5212080" cy="292608"/>
          </a:xfrm>
          <a:prstGeom prst="rect">
            <a:avLst/>
          </a:prstGeom>
          <a:solidFill>
            <a:srgbClr val="1A0E03"/>
          </a:solidFill>
          <a:ln w="3810">
            <a:solidFill>
              <a:srgbClr val="3D1F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49040" y="3913632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Range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63440" y="3913632"/>
            <a:ext cx="1645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0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-40°C to +150°C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09360" y="3913632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Sensitivity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223760" y="3913632"/>
            <a:ext cx="1554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0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mV/°C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0" y="4206240"/>
            <a:ext cx="5212080" cy="292608"/>
          </a:xfrm>
          <a:prstGeom prst="rect">
            <a:avLst/>
          </a:prstGeom>
          <a:solidFill>
            <a:srgbClr val="0F0A04"/>
          </a:solidFill>
          <a:ln w="3810">
            <a:solidFill>
              <a:srgbClr val="3D1F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49040" y="4233672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63440" y="4233672"/>
            <a:ext cx="1645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0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TO-92 (3 pins)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309360" y="4233672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Supply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23760" y="4233672"/>
            <a:ext cx="1554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0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2.3V – 5.5V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657600" y="4526280"/>
            <a:ext cx="5212080" cy="292608"/>
          </a:xfrm>
          <a:prstGeom prst="rect">
            <a:avLst/>
          </a:prstGeom>
          <a:solidFill>
            <a:srgbClr val="1A0E03"/>
          </a:solidFill>
          <a:ln w="3810">
            <a:solidFill>
              <a:srgbClr val="3D1F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49040" y="4553712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Pico Pin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663440" y="4553712"/>
            <a:ext cx="1645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0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A0 (GP26)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309360" y="4553712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223760" y="4553712"/>
            <a:ext cx="1554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0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Analog voltage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28600" y="4114800"/>
            <a:ext cx="3200400" cy="822960"/>
          </a:xfrm>
          <a:prstGeom prst="rect">
            <a:avLst/>
          </a:prstGeom>
          <a:solidFill>
            <a:srgbClr val="100800"/>
          </a:solidFill>
          <a:ln w="12700">
            <a:solidFill>
              <a:srgbClr val="3D1F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7472" y="4133088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D7F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47472" y="4425696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VDD → 3V3  |  GND → GND  |  Vout → </a:t>
            </a: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GP26 (A0)</a:t>
            </a: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No resistor needed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3800"/>
          </a:solidFill>
          <a:ln w="12700">
            <a:solidFill>
              <a:srgbClr val="3D3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0" y="2103120"/>
            <a:ext cx="16459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LDR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 — Light Dependent Resistor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Photoresistor that changes resistance based on light intensity — used with voltage divider circuit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60120"/>
            <a:ext cx="320040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0" y="914400"/>
            <a:ext cx="5212080" cy="1371600"/>
          </a:xfrm>
          <a:prstGeom prst="rect">
            <a:avLst/>
          </a:prstGeom>
          <a:solidFill>
            <a:srgbClr val="0D0F0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94760" y="9601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Voltage Divider Circuit: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794760" y="129844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3V3 </a:t>
            </a:r>
            <a:r>
              <a:rPr lang="en-US" sz="12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── LDR ──┬── 10kΩ ── GND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94760" y="1572768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└── GP27 (A1)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94760" y="184708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ADC reads voltage at midpoint → converts to 0–65535 (12-bit ADC)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0" y="2377440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Light Affects the Reading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0" y="2743200"/>
            <a:ext cx="5212080" cy="320040"/>
          </a:xfrm>
          <a:prstGeom prst="rect">
            <a:avLst/>
          </a:prstGeom>
          <a:solidFill>
            <a:srgbClr val="1A1400"/>
          </a:solidFill>
          <a:ln w="5080">
            <a:solidFill>
              <a:srgbClr val="3D38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03320" y="2779776"/>
            <a:ext cx="1143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92040" y="2779776"/>
            <a:ext cx="13258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 Resistance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63640" y="2779776"/>
            <a:ext cx="10515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Vout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60920" y="2779776"/>
            <a:ext cx="15087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ldr_raw value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0" y="3090672"/>
            <a:ext cx="5212080" cy="320040"/>
          </a:xfrm>
          <a:prstGeom prst="rect">
            <a:avLst/>
          </a:prstGeom>
          <a:solidFill>
            <a:srgbClr val="12100A"/>
          </a:solidFill>
          <a:ln w="5080">
            <a:solidFill>
              <a:srgbClr val="3D38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03320" y="3127248"/>
            <a:ext cx="1143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Bright light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92040" y="3127248"/>
            <a:ext cx="13258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(~1kΩ)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63640" y="3127248"/>
            <a:ext cx="10515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(~3V)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60920" y="3127248"/>
            <a:ext cx="15087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~60000+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0" y="3438144"/>
            <a:ext cx="5212080" cy="320040"/>
          </a:xfrm>
          <a:prstGeom prst="rect">
            <a:avLst/>
          </a:prstGeom>
          <a:solidFill>
            <a:srgbClr val="0D0F05"/>
          </a:solidFill>
          <a:ln w="5080">
            <a:solidFill>
              <a:srgbClr val="3D38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03320" y="3474720"/>
            <a:ext cx="1143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 light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92040" y="3474720"/>
            <a:ext cx="13258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(~10kΩ)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63640" y="3474720"/>
            <a:ext cx="10515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~1.65V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360920" y="3474720"/>
            <a:ext cx="15087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~32000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657600" y="3785616"/>
            <a:ext cx="5212080" cy="320040"/>
          </a:xfrm>
          <a:prstGeom prst="rect">
            <a:avLst/>
          </a:prstGeom>
          <a:solidFill>
            <a:srgbClr val="12100A"/>
          </a:solidFill>
          <a:ln w="5080">
            <a:solidFill>
              <a:srgbClr val="3D38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03320" y="3822192"/>
            <a:ext cx="1143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 / covered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92040" y="3822192"/>
            <a:ext cx="13258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(~1MΩ)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63640" y="3822192"/>
            <a:ext cx="10515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D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(~0V)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360920" y="3822192"/>
            <a:ext cx="15087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~0–500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28600" y="4114800"/>
            <a:ext cx="3200400" cy="822960"/>
          </a:xfrm>
          <a:prstGeom prst="rect">
            <a:avLst/>
          </a:prstGeom>
          <a:solidFill>
            <a:srgbClr val="0A0900"/>
          </a:solidFill>
          <a:ln w="12700">
            <a:solidFill>
              <a:srgbClr val="3D38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7472" y="4133088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47472" y="4425696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LDR leg → 3V3  |  Other LDR leg → midpoint → </a:t>
            </a: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GP27</a:t>
            </a:r>
            <a:r>
              <a:rPr lang="en-US" sz="900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10kΩ from midpoint → GND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0" y="2103120"/>
            <a:ext cx="16459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WIRING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Wiring Diagram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everything from 3V3 OUT (pin 36). Double-check polarity before plugging in USB.</a:t>
            </a:r>
            <a:endParaRPr lang="en-US" sz="11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935" y="91440"/>
            <a:ext cx="6592570" cy="3740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0" y="2103120"/>
            <a:ext cx="16459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WIRING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Wiring Diagram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everything from 3V3 OUT (pin 36). Double-check polarity before plugging in USB.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41248"/>
            <a:ext cx="89611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162560" y="2086610"/>
            <a:ext cx="4902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PINOUT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Pinout Reference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463040" cy="347472"/>
          </a:xfrm>
          <a:prstGeom prst="rect">
            <a:avLst/>
          </a:prstGeom>
          <a:solidFill>
            <a:srgbClr val="1F3864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13816"/>
            <a:ext cx="13533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777240"/>
            <a:ext cx="1554480" cy="347472"/>
          </a:xfrm>
          <a:prstGeom prst="rect">
            <a:avLst/>
          </a:prstGeom>
          <a:solidFill>
            <a:srgbClr val="1F3864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0512" y="813816"/>
            <a:ext cx="14447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Pin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777240"/>
            <a:ext cx="2011680" cy="347472"/>
          </a:xfrm>
          <a:prstGeom prst="rect">
            <a:avLst/>
          </a:prstGeom>
          <a:solidFill>
            <a:srgbClr val="1F3864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813816"/>
            <a:ext cx="19019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Pico W Pin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777240"/>
            <a:ext cx="3657600" cy="347472"/>
          </a:xfrm>
          <a:prstGeom prst="rect">
            <a:avLst/>
          </a:prstGeom>
          <a:solidFill>
            <a:srgbClr val="1F3864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813816"/>
            <a:ext cx="3547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124712"/>
            <a:ext cx="146304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161288"/>
            <a:ext cx="135331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MCP9700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1124712"/>
            <a:ext cx="155448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0512" y="1161288"/>
            <a:ext cx="14447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VCC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124712"/>
            <a:ext cx="201168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161288"/>
            <a:ext cx="19019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7A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3V3 OUT (pin 36)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124712"/>
            <a:ext cx="365760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1161288"/>
            <a:ext cx="354787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3.3V supply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508760"/>
            <a:ext cx="1463040" cy="384048"/>
          </a:xfrm>
          <a:prstGeom prst="rect">
            <a:avLst/>
          </a:prstGeom>
          <a:solidFill>
            <a:srgbClr val="F4F9FC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545336"/>
            <a:ext cx="135331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MCP9700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37360" y="1508760"/>
            <a:ext cx="1554480" cy="384048"/>
          </a:xfrm>
          <a:prstGeom prst="rect">
            <a:avLst/>
          </a:prstGeom>
          <a:solidFill>
            <a:srgbClr val="F4F9FC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1545336"/>
            <a:ext cx="14447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1508760"/>
            <a:ext cx="2011680" cy="384048"/>
          </a:xfrm>
          <a:prstGeom prst="rect">
            <a:avLst/>
          </a:prstGeom>
          <a:solidFill>
            <a:srgbClr val="F4F9FC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545336"/>
            <a:ext cx="19019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7A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GP26 / A0 (pin 31)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1508760"/>
            <a:ext cx="3657600" cy="384048"/>
          </a:xfrm>
          <a:prstGeom prst="rect">
            <a:avLst/>
          </a:prstGeom>
          <a:solidFill>
            <a:srgbClr val="F4F9FC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6672" y="1545336"/>
            <a:ext cx="354787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mV/°C, 500 mV @ 0°C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1892808"/>
            <a:ext cx="146304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1929384"/>
            <a:ext cx="135331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MCP9700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37360" y="1892808"/>
            <a:ext cx="155448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10512" y="1929384"/>
            <a:ext cx="14447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1892808"/>
            <a:ext cx="201168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1929384"/>
            <a:ext cx="19019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7A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GND (any)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1892808"/>
            <a:ext cx="365760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1929384"/>
            <a:ext cx="354787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ground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2276856"/>
            <a:ext cx="1463040" cy="384048"/>
          </a:xfrm>
          <a:prstGeom prst="rect">
            <a:avLst/>
          </a:prstGeom>
          <a:solidFill>
            <a:srgbClr val="F0FA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313432"/>
            <a:ext cx="135331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2276856"/>
            <a:ext cx="1554480" cy="384048"/>
          </a:xfrm>
          <a:prstGeom prst="rect">
            <a:avLst/>
          </a:prstGeom>
          <a:solidFill>
            <a:srgbClr val="F0FA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10512" y="2313432"/>
            <a:ext cx="14447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VCC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1840" y="2276856"/>
            <a:ext cx="2011680" cy="384048"/>
          </a:xfrm>
          <a:prstGeom prst="rect">
            <a:avLst/>
          </a:prstGeom>
          <a:solidFill>
            <a:srgbClr val="F0FA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4992" y="2313432"/>
            <a:ext cx="19019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7A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3V3 OUT (pin 36)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03520" y="2276856"/>
            <a:ext cx="3657600" cy="384048"/>
          </a:xfrm>
          <a:prstGeom prst="rect">
            <a:avLst/>
          </a:prstGeom>
          <a:solidFill>
            <a:srgbClr val="F0FA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2313432"/>
            <a:ext cx="354787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Pull-up end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2660904"/>
            <a:ext cx="1463040" cy="384048"/>
          </a:xfrm>
          <a:prstGeom prst="rect">
            <a:avLst/>
          </a:prstGeom>
          <a:solidFill>
            <a:srgbClr val="E8F5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2697480"/>
            <a:ext cx="135331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737360" y="2660904"/>
            <a:ext cx="1554480" cy="384048"/>
          </a:xfrm>
          <a:prstGeom prst="rect">
            <a:avLst/>
          </a:prstGeom>
          <a:solidFill>
            <a:srgbClr val="E8F5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10512" y="2697480"/>
            <a:ext cx="14447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91840" y="2660904"/>
            <a:ext cx="2011680" cy="384048"/>
          </a:xfrm>
          <a:prstGeom prst="rect">
            <a:avLst/>
          </a:prstGeom>
          <a:solidFill>
            <a:srgbClr val="E8F5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64992" y="2697480"/>
            <a:ext cx="19019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7A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GP27 / A1 (pin 32)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03520" y="2660904"/>
            <a:ext cx="3657600" cy="384048"/>
          </a:xfrm>
          <a:prstGeom prst="rect">
            <a:avLst/>
          </a:prstGeom>
          <a:solidFill>
            <a:srgbClr val="E8F5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76672" y="2697480"/>
            <a:ext cx="354787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Voltage divider output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3044952"/>
            <a:ext cx="1463040" cy="384048"/>
          </a:xfrm>
          <a:prstGeom prst="rect">
            <a:avLst/>
          </a:prstGeom>
          <a:solidFill>
            <a:srgbClr val="F0FA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3081528"/>
            <a:ext cx="135331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737360" y="3044952"/>
            <a:ext cx="1554480" cy="384048"/>
          </a:xfrm>
          <a:prstGeom prst="rect">
            <a:avLst/>
          </a:prstGeom>
          <a:solidFill>
            <a:srgbClr val="F0FA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10512" y="3081528"/>
            <a:ext cx="14447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GND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91840" y="3044952"/>
            <a:ext cx="2011680" cy="384048"/>
          </a:xfrm>
          <a:prstGeom prst="rect">
            <a:avLst/>
          </a:prstGeom>
          <a:solidFill>
            <a:srgbClr val="F0FA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64992" y="3081528"/>
            <a:ext cx="19019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7A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GND (any)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03520" y="3044952"/>
            <a:ext cx="3657600" cy="384048"/>
          </a:xfrm>
          <a:prstGeom prst="rect">
            <a:avLst/>
          </a:prstGeom>
          <a:solidFill>
            <a:srgbClr val="F0FA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76672" y="3081528"/>
            <a:ext cx="354787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Common ground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3429000"/>
            <a:ext cx="1463040" cy="384048"/>
          </a:xfrm>
          <a:prstGeom prst="rect">
            <a:avLst/>
          </a:prstGeom>
          <a:solidFill>
            <a:srgbClr val="FFF8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" y="3465576"/>
            <a:ext cx="135331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737360" y="3429000"/>
            <a:ext cx="1554480" cy="384048"/>
          </a:xfrm>
          <a:prstGeom prst="rect">
            <a:avLst/>
          </a:prstGeom>
          <a:solidFill>
            <a:srgbClr val="FFF8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10512" y="3465576"/>
            <a:ext cx="14447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91840" y="3429000"/>
            <a:ext cx="2011680" cy="384048"/>
          </a:xfrm>
          <a:prstGeom prst="rect">
            <a:avLst/>
          </a:prstGeom>
          <a:solidFill>
            <a:srgbClr val="FFF8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64992" y="3465576"/>
            <a:ext cx="19019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7A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3V3 OUT (pin 36)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303520" y="3429000"/>
            <a:ext cx="3657600" cy="384048"/>
          </a:xfrm>
          <a:prstGeom prst="rect">
            <a:avLst/>
          </a:prstGeom>
          <a:solidFill>
            <a:srgbClr val="FFF8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76672" y="3465576"/>
            <a:ext cx="354787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3.3V supply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3813048"/>
            <a:ext cx="1463040" cy="384048"/>
          </a:xfrm>
          <a:prstGeom prst="rect">
            <a:avLst/>
          </a:prstGeom>
          <a:solidFill>
            <a:srgbClr val="FFFF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3849624"/>
            <a:ext cx="135331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737360" y="3813048"/>
            <a:ext cx="1554480" cy="384048"/>
          </a:xfrm>
          <a:prstGeom prst="rect">
            <a:avLst/>
          </a:prstGeom>
          <a:solidFill>
            <a:srgbClr val="FFFF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10512" y="3849624"/>
            <a:ext cx="14447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91840" y="3813048"/>
            <a:ext cx="2011680" cy="384048"/>
          </a:xfrm>
          <a:prstGeom prst="rect">
            <a:avLst/>
          </a:prstGeom>
          <a:solidFill>
            <a:srgbClr val="FFFF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64992" y="3849624"/>
            <a:ext cx="19019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7A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GP15 (pin 20)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303520" y="3813048"/>
            <a:ext cx="3657600" cy="384048"/>
          </a:xfrm>
          <a:prstGeom prst="rect">
            <a:avLst/>
          </a:prstGeom>
          <a:solidFill>
            <a:srgbClr val="FFFFF0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76672" y="3849624"/>
            <a:ext cx="354787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4.7kΩ pull-up to 3V3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74320" y="4197096"/>
            <a:ext cx="1463040" cy="384048"/>
          </a:xfrm>
          <a:prstGeom prst="rect">
            <a:avLst/>
          </a:prstGeom>
          <a:solidFill>
            <a:srgbClr val="FFF8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7472" y="4233672"/>
            <a:ext cx="135331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737360" y="4197096"/>
            <a:ext cx="1554480" cy="384048"/>
          </a:xfrm>
          <a:prstGeom prst="rect">
            <a:avLst/>
          </a:prstGeom>
          <a:solidFill>
            <a:srgbClr val="FFF8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10512" y="4233672"/>
            <a:ext cx="14447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-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291840" y="4197096"/>
            <a:ext cx="2011680" cy="384048"/>
          </a:xfrm>
          <a:prstGeom prst="rect">
            <a:avLst/>
          </a:prstGeom>
          <a:solidFill>
            <a:srgbClr val="FFF8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64992" y="4233672"/>
            <a:ext cx="19019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7A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GND (any)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303520" y="4197096"/>
            <a:ext cx="3657600" cy="384048"/>
          </a:xfrm>
          <a:prstGeom prst="rect">
            <a:avLst/>
          </a:prstGeom>
          <a:solidFill>
            <a:srgbClr val="FFF8E8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376672" y="4233672"/>
            <a:ext cx="354787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Common ground</a:t>
            </a:r>
            <a:endParaRPr lang="en-US" sz="900" dirty="0"/>
          </a:p>
        </p:txBody>
      </p:sp>
      <p:pic>
        <p:nvPicPr>
          <p:cNvPr id="9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63440"/>
            <a:ext cx="256032" cy="256032"/>
          </a:xfrm>
          <a:prstGeom prst="rect">
            <a:avLst/>
          </a:prstGeom>
        </p:spPr>
      </p:pic>
      <p:sp>
        <p:nvSpPr>
          <p:cNvPr id="94" name="Text 91"/>
          <p:cNvSpPr/>
          <p:nvPr/>
        </p:nvSpPr>
        <p:spPr>
          <a:xfrm>
            <a:off x="609600" y="461772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VCC/3V3 connections share pin 36.  All GND connections can use any GND pin (3, 8, 13, 18, 23, 38).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146050" y="2103755"/>
            <a:ext cx="45783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OUTPUT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Output → pandas DataFrame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device streams one CSV row per second 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60120"/>
            <a:ext cx="8686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2926080"/>
            <a:ext cx="4206240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2926080"/>
            <a:ext cx="54864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962656"/>
            <a:ext cx="1828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timestamp_ms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194560" y="2962656"/>
            <a:ext cx="2148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Pico W  —  Milliseconds since boot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3383280"/>
            <a:ext cx="4206240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" y="3383280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3419856"/>
            <a:ext cx="1828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onboard_temp_c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194560" y="3419856"/>
            <a:ext cx="2148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RP2040  —  Chip internal temperature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28600" y="3840480"/>
            <a:ext cx="4206240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8600" y="3840480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877056"/>
            <a:ext cx="1828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mcp_temp_c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194560" y="3877056"/>
            <a:ext cx="2148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MCP9700  —  Ambient temperature (GP26)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28600" y="4297680"/>
            <a:ext cx="4206240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8600" y="4297680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334256"/>
            <a:ext cx="1828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dht_temp_c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194560" y="4334256"/>
            <a:ext cx="2148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  —  Air temperature (GP15)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709160" y="2926080"/>
            <a:ext cx="4206240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2926080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2962656"/>
            <a:ext cx="1828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dht_humidity_pct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675120" y="2962656"/>
            <a:ext cx="2148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  —  Relative humidity % (GP15)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709160" y="3383280"/>
            <a:ext cx="4206240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9160" y="3383280"/>
            <a:ext cx="54864" cy="40233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3419856"/>
            <a:ext cx="1828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ldr_raw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675120" y="3419856"/>
            <a:ext cx="2148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  —  Light ADC value 0–65535 (GP27)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709160" y="3840480"/>
            <a:ext cx="4206240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09160" y="3840480"/>
            <a:ext cx="54864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3877056"/>
            <a:ext cx="1828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comfort_level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675120" y="3877056"/>
            <a:ext cx="2148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Derived  —  Computed: comfortable / warm / hot</a:t>
            </a:r>
            <a:endParaRPr lang="en-US" sz="8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736592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48640" y="4736592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 into pandas:  df = pd.read_csv('sample_pico_readings.csv')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169545" y="2117090"/>
            <a:ext cx="50482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FLOW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Sensor to AI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F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full data journey — from physical world to machine learning prediction</a:t>
            </a:r>
            <a:endParaRPr lang="en-US" sz="12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74320" y="1097280"/>
            <a:ext cx="1600200" cy="2926080"/>
          </a:xfrm>
          <a:prstGeom prst="rect">
            <a:avLst/>
          </a:prstGeom>
          <a:solidFill>
            <a:srgbClr val="1B7A78"/>
          </a:solidFill>
          <a:ln w="381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274320" y="1143000"/>
            <a:ext cx="1600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50392" y="16916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320040" y="2240280"/>
            <a:ext cx="1508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World</a:t>
            </a:r>
            <a:endParaRPr lang="en-US" sz="100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338328" y="2697480"/>
            <a:ext cx="14630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DD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Temperature, humidity, light — real environment in the room</a:t>
            </a:r>
            <a:endParaRPr lang="en-US" sz="850" dirty="0"/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1874520" y="2514600"/>
            <a:ext cx="155448" cy="73152"/>
          </a:xfrm>
          <a:prstGeom prst="rect">
            <a:avLst/>
          </a:prstGeom>
          <a:solidFill>
            <a:srgbClr val="2BA8A5"/>
          </a:solidFill>
          <a:ln w="12700">
            <a:solidFill>
              <a:srgbClr val="2BA8A5"/>
            </a:solidFill>
            <a:prstDash val="solid"/>
          </a:ln>
        </p:spPr>
      </p:sp>
      <p:sp>
        <p:nvSpPr>
          <p:cNvPr id="12" name="Shape 9"/>
          <p:cNvSpPr/>
          <p:nvPr>
            <p:custDataLst>
              <p:tags r:id="rId7"/>
            </p:custDataLst>
          </p:nvPr>
        </p:nvSpPr>
        <p:spPr>
          <a:xfrm>
            <a:off x="2029968" y="1097280"/>
            <a:ext cx="1600200" cy="2926080"/>
          </a:xfrm>
          <a:prstGeom prst="rect">
            <a:avLst/>
          </a:prstGeom>
          <a:solidFill>
            <a:srgbClr val="2D5A27"/>
          </a:solidFill>
          <a:ln w="381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2029968" y="1143000"/>
            <a:ext cx="1600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800" dirty="0"/>
          </a:p>
        </p:txBody>
      </p:sp>
      <p:pic>
        <p:nvPicPr>
          <p:cNvPr id="14" name="Image 1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2606040" y="16916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>
            <p:custDataLst>
              <p:tags r:id="rId10"/>
            </p:custDataLst>
          </p:nvPr>
        </p:nvSpPr>
        <p:spPr>
          <a:xfrm>
            <a:off x="2075688" y="2240280"/>
            <a:ext cx="1508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Pico W Kit</a:t>
            </a:r>
            <a:endParaRPr lang="en-US" sz="1000" dirty="0"/>
          </a:p>
        </p:txBody>
      </p:sp>
      <p:sp>
        <p:nvSpPr>
          <p:cNvPr id="16" name="Text 12"/>
          <p:cNvSpPr/>
          <p:nvPr>
            <p:custDataLst>
              <p:tags r:id="rId11"/>
            </p:custDataLst>
          </p:nvPr>
        </p:nvSpPr>
        <p:spPr>
          <a:xfrm>
            <a:off x="2093976" y="2697480"/>
            <a:ext cx="14630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DD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MCP9700, DHT22, LDR read values → one CSV row per second</a:t>
            </a:r>
            <a:endParaRPr lang="en-US" sz="850" dirty="0"/>
          </a:p>
        </p:txBody>
      </p:sp>
      <p:sp>
        <p:nvSpPr>
          <p:cNvPr id="17" name="Shape 13"/>
          <p:cNvSpPr/>
          <p:nvPr>
            <p:custDataLst>
              <p:tags r:id="rId12"/>
            </p:custDataLst>
          </p:nvPr>
        </p:nvSpPr>
        <p:spPr>
          <a:xfrm>
            <a:off x="3630168" y="2514600"/>
            <a:ext cx="155448" cy="73152"/>
          </a:xfrm>
          <a:prstGeom prst="rect">
            <a:avLst/>
          </a:prstGeom>
          <a:solidFill>
            <a:srgbClr val="2BA8A5"/>
          </a:solidFill>
          <a:ln w="12700">
            <a:solidFill>
              <a:srgbClr val="2BA8A5"/>
            </a:solidFill>
            <a:prstDash val="solid"/>
          </a:ln>
        </p:spPr>
      </p:sp>
      <p:sp>
        <p:nvSpPr>
          <p:cNvPr id="18" name="Shape 14"/>
          <p:cNvSpPr/>
          <p:nvPr>
            <p:custDataLst>
              <p:tags r:id="rId13"/>
            </p:custDataLst>
          </p:nvPr>
        </p:nvSpPr>
        <p:spPr>
          <a:xfrm>
            <a:off x="3785616" y="1097280"/>
            <a:ext cx="1600200" cy="2926080"/>
          </a:xfrm>
          <a:prstGeom prst="rect">
            <a:avLst/>
          </a:prstGeom>
          <a:solidFill>
            <a:srgbClr val="1E3A5F"/>
          </a:solidFill>
          <a:ln w="381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5"/>
          <p:cNvSpPr/>
          <p:nvPr>
            <p:custDataLst>
              <p:tags r:id="rId14"/>
            </p:custDataLst>
          </p:nvPr>
        </p:nvSpPr>
        <p:spPr>
          <a:xfrm>
            <a:off x="3785616" y="1143000"/>
            <a:ext cx="1600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800" dirty="0"/>
          </a:p>
        </p:txBody>
      </p:sp>
      <p:pic>
        <p:nvPicPr>
          <p:cNvPr id="20" name="Image 2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4361688" y="16916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>
            <p:custDataLst>
              <p:tags r:id="rId16"/>
            </p:custDataLst>
          </p:nvPr>
        </p:nvSpPr>
        <p:spPr>
          <a:xfrm>
            <a:off x="3831336" y="2240280"/>
            <a:ext cx="1508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USB / MQTT</a:t>
            </a:r>
            <a:endParaRPr lang="en-US" sz="1000" dirty="0"/>
          </a:p>
        </p:txBody>
      </p:sp>
      <p:sp>
        <p:nvSpPr>
          <p:cNvPr id="22" name="Text 17"/>
          <p:cNvSpPr/>
          <p:nvPr>
            <p:custDataLst>
              <p:tags r:id="rId17"/>
            </p:custDataLst>
          </p:nvPr>
        </p:nvSpPr>
        <p:spPr>
          <a:xfrm>
            <a:off x="3849624" y="2697480"/>
            <a:ext cx="14630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DD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streams to laptop (USB Serial) and room broker (MQTT)</a:t>
            </a:r>
            <a:endParaRPr lang="en-US" sz="850" dirty="0"/>
          </a:p>
        </p:txBody>
      </p:sp>
      <p:sp>
        <p:nvSpPr>
          <p:cNvPr id="23" name="Shape 18"/>
          <p:cNvSpPr/>
          <p:nvPr>
            <p:custDataLst>
              <p:tags r:id="rId18"/>
            </p:custDataLst>
          </p:nvPr>
        </p:nvSpPr>
        <p:spPr>
          <a:xfrm>
            <a:off x="5385816" y="2514600"/>
            <a:ext cx="155448" cy="73152"/>
          </a:xfrm>
          <a:prstGeom prst="rect">
            <a:avLst/>
          </a:prstGeom>
          <a:solidFill>
            <a:srgbClr val="2BA8A5"/>
          </a:solidFill>
          <a:ln w="12700">
            <a:solidFill>
              <a:srgbClr val="2BA8A5"/>
            </a:solidFill>
            <a:prstDash val="solid"/>
          </a:ln>
        </p:spPr>
      </p:sp>
      <p:sp>
        <p:nvSpPr>
          <p:cNvPr id="24" name="Shape 19"/>
          <p:cNvSpPr/>
          <p:nvPr>
            <p:custDataLst>
              <p:tags r:id="rId19"/>
            </p:custDataLst>
          </p:nvPr>
        </p:nvSpPr>
        <p:spPr>
          <a:xfrm>
            <a:off x="5541264" y="1097280"/>
            <a:ext cx="1600200" cy="2926080"/>
          </a:xfrm>
          <a:prstGeom prst="rect">
            <a:avLst/>
          </a:prstGeom>
          <a:solidFill>
            <a:srgbClr val="4A2070"/>
          </a:solidFill>
          <a:ln w="381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0"/>
          <p:cNvSpPr/>
          <p:nvPr>
            <p:custDataLst>
              <p:tags r:id="rId20"/>
            </p:custDataLst>
          </p:nvPr>
        </p:nvSpPr>
        <p:spPr>
          <a:xfrm>
            <a:off x="5541264" y="1143000"/>
            <a:ext cx="1600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800" dirty="0"/>
          </a:p>
        </p:txBody>
      </p:sp>
      <p:pic>
        <p:nvPicPr>
          <p:cNvPr id="26" name="Image 3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6117336" y="169164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>
            <p:custDataLst>
              <p:tags r:id="rId22"/>
            </p:custDataLst>
          </p:nvPr>
        </p:nvSpPr>
        <p:spPr>
          <a:xfrm>
            <a:off x="5586984" y="2240280"/>
            <a:ext cx="1508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 (Day 2)</a:t>
            </a:r>
            <a:endParaRPr lang="en-US" sz="1000" dirty="0"/>
          </a:p>
        </p:txBody>
      </p:sp>
      <p:sp>
        <p:nvSpPr>
          <p:cNvPr id="28" name="Text 22"/>
          <p:cNvSpPr/>
          <p:nvPr>
            <p:custDataLst>
              <p:tags r:id="rId23"/>
            </p:custDataLst>
          </p:nvPr>
        </p:nvSpPr>
        <p:spPr>
          <a:xfrm>
            <a:off x="5605272" y="2697480"/>
            <a:ext cx="14630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DD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df = pd.read_csv(...)  →  clean, filter, groupby, visualize</a:t>
            </a:r>
            <a:endParaRPr lang="en-US" sz="850" dirty="0"/>
          </a:p>
        </p:txBody>
      </p:sp>
      <p:sp>
        <p:nvSpPr>
          <p:cNvPr id="29" name="Shape 23"/>
          <p:cNvSpPr/>
          <p:nvPr>
            <p:custDataLst>
              <p:tags r:id="rId24"/>
            </p:custDataLst>
          </p:nvPr>
        </p:nvSpPr>
        <p:spPr>
          <a:xfrm>
            <a:off x="7141464" y="2514600"/>
            <a:ext cx="155448" cy="73152"/>
          </a:xfrm>
          <a:prstGeom prst="rect">
            <a:avLst/>
          </a:prstGeom>
          <a:solidFill>
            <a:srgbClr val="2BA8A5"/>
          </a:solidFill>
          <a:ln w="12700">
            <a:solidFill>
              <a:srgbClr val="2BA8A5"/>
            </a:solidFill>
            <a:prstDash val="solid"/>
          </a:ln>
        </p:spPr>
      </p:sp>
      <p:sp>
        <p:nvSpPr>
          <p:cNvPr id="30" name="Shape 24"/>
          <p:cNvSpPr/>
          <p:nvPr>
            <p:custDataLst>
              <p:tags r:id="rId25"/>
            </p:custDataLst>
          </p:nvPr>
        </p:nvSpPr>
        <p:spPr>
          <a:xfrm>
            <a:off x="7296912" y="1097280"/>
            <a:ext cx="1600200" cy="2926080"/>
          </a:xfrm>
          <a:prstGeom prst="rect">
            <a:avLst/>
          </a:prstGeom>
          <a:solidFill>
            <a:srgbClr val="7C2020"/>
          </a:solidFill>
          <a:ln w="381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5"/>
          <p:cNvSpPr/>
          <p:nvPr>
            <p:custDataLst>
              <p:tags r:id="rId26"/>
            </p:custDataLst>
          </p:nvPr>
        </p:nvSpPr>
        <p:spPr>
          <a:xfrm>
            <a:off x="7296912" y="1143000"/>
            <a:ext cx="1600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800" dirty="0"/>
          </a:p>
        </p:txBody>
      </p:sp>
      <p:pic>
        <p:nvPicPr>
          <p:cNvPr id="32" name="Image 4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7872984" y="169164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>
            <p:custDataLst>
              <p:tags r:id="rId28"/>
            </p:custDataLst>
          </p:nvPr>
        </p:nvSpPr>
        <p:spPr>
          <a:xfrm>
            <a:off x="7342632" y="2240280"/>
            <a:ext cx="1508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 (Day 3)</a:t>
            </a:r>
            <a:endParaRPr lang="en-US" sz="1000" dirty="0"/>
          </a:p>
        </p:txBody>
      </p:sp>
      <p:sp>
        <p:nvSpPr>
          <p:cNvPr id="34" name="Text 27"/>
          <p:cNvSpPr/>
          <p:nvPr>
            <p:custDataLst>
              <p:tags r:id="rId29"/>
            </p:custDataLst>
          </p:nvPr>
        </p:nvSpPr>
        <p:spPr>
          <a:xfrm>
            <a:off x="7360920" y="2697480"/>
            <a:ext cx="14630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DD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  →  train classifier  →  predict comfort_level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274320" y="4160520"/>
            <a:ext cx="8595360" cy="749808"/>
          </a:xfrm>
          <a:prstGeom prst="rect">
            <a:avLst/>
          </a:prstGeom>
          <a:solidFill>
            <a:srgbClr val="0D2020"/>
          </a:solidFill>
          <a:ln w="12700">
            <a:solidFill>
              <a:srgbClr val="1B7A78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11480" y="4421378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49808" y="4206240"/>
            <a:ext cx="7955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F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sure each kit streams a steady CSV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2020"/>
          </a:solidFill>
          <a:ln w="12700">
            <a:solidFill>
              <a:srgbClr val="7C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229235" y="2132965"/>
            <a:ext cx="62293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TROUBLE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Troubleshooting Guide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these first before spending time debugging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30352"/>
          </a:xfrm>
          <a:prstGeom prst="rect">
            <a:avLst/>
          </a:prstGeom>
          <a:solidFill>
            <a:srgbClr val="F8FAFA"/>
          </a:solidFill>
          <a:ln w="6350">
            <a:solidFill>
              <a:srgbClr val="E2EA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9728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996696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CIRCUITPY drive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1225296"/>
            <a:ext cx="8046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Re-flash. Confirm a data USB cable — not a charge-only cable.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8600" y="1536192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1536192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67335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" y="1572768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dht_temp_c blank every row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85800" y="1801368"/>
            <a:ext cx="8046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 wiring or missing 4.7kΩ pull-up. Re-seat data wire on GP15. Occasional blank row is normal.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28600" y="2112264"/>
            <a:ext cx="8686800" cy="530352"/>
          </a:xfrm>
          <a:prstGeom prst="rect">
            <a:avLst/>
          </a:prstGeom>
          <a:solidFill>
            <a:srgbClr val="F8FAFA"/>
          </a:solidFill>
          <a:ln w="6350">
            <a:solidFill>
              <a:srgbClr val="E2EA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8600" y="2112264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24942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" y="2148840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mcp_temp_c wildly wrong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85800" y="2377440"/>
            <a:ext cx="8046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MCP9700 orientation. Confirm Vout is on GP26, not a power pin. Flat side faces you when reading label.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28600" y="2688336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28600" y="2688336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82549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" y="272491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ldr_raw stuck at 0 or 65535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85800" y="2953512"/>
            <a:ext cx="8046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Voltage divider not wired correctly. Check 10kΩ pulldown to GND and the A1 (GP27) connection.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28600" y="3264408"/>
            <a:ext cx="8686800" cy="530352"/>
          </a:xfrm>
          <a:prstGeom prst="rect">
            <a:avLst/>
          </a:prstGeom>
          <a:solidFill>
            <a:srgbClr val="F8FAFA"/>
          </a:solidFill>
          <a:ln w="6350">
            <a:solidFill>
              <a:srgbClr val="E2EA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28600" y="3264408"/>
            <a:ext cx="54864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401568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5800" y="3300984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ImportError: adafruit_dht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85800" y="3529584"/>
            <a:ext cx="8046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Library missing from CIRCUITPY/lib/. Redo Step 2 — copy adafruit_dht.mpy to lib/.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228600" y="3840480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28600" y="3840480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97764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5800" y="3877056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'# wifi ok' line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85800" y="4105656"/>
            <a:ext cx="8046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 SSID/password in secrets.py, or you flashed the plain Pico build instead of Pico W build.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228600" y="4416552"/>
            <a:ext cx="8686800" cy="530352"/>
          </a:xfrm>
          <a:prstGeom prst="rect">
            <a:avLst/>
          </a:prstGeom>
          <a:solidFill>
            <a:srgbClr val="F8FAFA"/>
          </a:solidFill>
          <a:ln w="6350">
            <a:solidFill>
              <a:srgbClr val="E2EA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228600" y="4416552"/>
            <a:ext cx="54864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4553712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85800" y="4453128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'# mqtt connected' but WiFi ok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685800" y="4681728"/>
            <a:ext cx="8046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Broker unreachable. Device still streams over USB — acceptable for the lab exercises.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4,&quot;left&quot;:21.6,&quot;top&quot;:86.4,&quot;width&quot;:678.9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1298</Words>
  <Application>Microsoft Office PowerPoint</Application>
  <PresentationFormat>On-screen Show (16:9)</PresentationFormat>
  <Paragraphs>270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monospace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Bootcamp 2026 — Sensor Components Guide</dc:title>
  <dc:subject>PptxGenJS Presentation</dc:subject>
  <dc:creator>KV Bootcamp 2026</dc:creator>
  <cp:lastModifiedBy>SARA CHANDIRAN</cp:lastModifiedBy>
  <cp:revision>6</cp:revision>
  <dcterms:created xsi:type="dcterms:W3CDTF">2026-06-07T06:56:00Z</dcterms:created>
  <dcterms:modified xsi:type="dcterms:W3CDTF">2026-06-10T13:08:29Z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BA6F835B832341B2A231ED489B5726D2_12</vt:lpwstr>
  </property>
  <property fmtid="{D5CDD505-2E9C-101B-9397-08002B2CF9AE}" pid="3" name="KSOProductBuildVer">
    <vt:lpwstr>2057-12.2.0.23202</vt:lpwstr>
  </property>
</Properties>
</file>